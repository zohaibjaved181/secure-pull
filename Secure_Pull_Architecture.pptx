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228600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Secure Pull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200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BBBB"/>
                </a:solidFill>
              </a:rPr>
              <a:t>Enterprise Multi-Layer Security for Automated &amp; Manual Patching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BCEB"/>
                </a:solidFill>
              </a:rPr>
              <a:t>3 Datacenters | 6+ Technology Domains | 5 Security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5029200"/>
            <a:ext cx="1280160" cy="36576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DMZ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5029200"/>
            <a:ext cx="1280160" cy="365760"/>
          </a:xfrm>
          <a:prstGeom prst="roundRect">
            <a:avLst/>
          </a:prstGeom>
          <a:solidFill>
            <a:srgbClr val="6C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DC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5029200"/>
            <a:ext cx="1280160" cy="365760"/>
          </a:xfrm>
          <a:prstGeom prst="roundRect">
            <a:avLst/>
          </a:prstGeom>
          <a:solidFill>
            <a:srgbClr val="007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SECURE PULL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Patching Challenges at Scale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Cisco IOS/NX-OS firmware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2704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Palo Alto PAN-OS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2821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ACI fabric upgrades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938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SD-WAN controllers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005840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05156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CC04A"/>
                </a:solidFill>
              </a:rPr>
              <a:t>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32588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CUCM version upgrades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52704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Expressway/VCS patches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72821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Webex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938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Contact Center (UCCX)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05840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05156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7E14"/>
                </a:solidFill>
              </a:rPr>
              <a:t>HCI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32588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Nutanix AOS/AHV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2704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Prism Central patches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172821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VMware ESXi/vCenter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92938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Firmware (BIOS/BMC)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49039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794759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069079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Trellix EPO &amp; DAT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70247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CrowdStrike Falcon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71415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Firewall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672583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WAF/IPS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749039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794759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</a:rPr>
              <a:t>Microsoft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069079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Windows Server (WSUS)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270247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Exchange 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471415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SQL Server patches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672583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AD/Azure AD sync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749039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794759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</a:rPr>
              <a:t>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069079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SolarWinds Orion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270247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Splunk forwarders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471415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Grafana/Prometheus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672583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Flow collectors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Cybersecurity Requirements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05840"/>
            <a:ext cx="3657600" cy="274320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Regulatory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ISO 27001 - Information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NIST CSF - Cybersecurity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28216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PCI-DSS - Payment Card Industry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938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CIS Controls -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NCA ECC - Essential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SOC 2 Type II - Service Org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005840"/>
            <a:ext cx="3657600" cy="274320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051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7E14"/>
                </a:solidFill>
              </a:rPr>
              <a:t>Patch SLA Requirements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3258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Critical (9.0+): 24-72 hrs internet-facing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52704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Critical (9.0+): 7 days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728216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High (7.0-8.9): 14 days all systems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92938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Medium (4.0-6.9): 30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3055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Low (0-3.9): 90 days / next window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005840"/>
            <a:ext cx="3749039" cy="274320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05156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CC04A"/>
                </a:solidFill>
              </a:rPr>
              <a:t>Security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132588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Network Segmentation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52704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Integrity Verification (hash/sig)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72821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Least Privilege for patch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92938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Full audit trail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130552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CAB approval for production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33172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Pre/post vulnerability scanning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233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CEB"/>
                </a:solidFill>
              </a:rPr>
              <a:t>Zero Trust Patching: Never Trust | Always Verify Integrity | Monitor All Traffic | Assume Breach &amp; Isolate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572000"/>
            <a:ext cx="5669280" cy="20116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177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</a:rPr>
              <a:t>Continuous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9204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Vulnerability Management (Qualys/Tenable)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09320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Patch compliance dashboards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9437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Threat intelligence feeds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9554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Asset inventory (CMDB accuracy)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9671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Exception management &amp; risk acceptance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8978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KPI: Mean time to patch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572000"/>
            <a:ext cx="5669280" cy="20116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6177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</a:rPr>
              <a:t>Encryption &amp;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9204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All patches downloaded over TLS/HTTPS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09320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SHA-256 hash verification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29437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Vendor digital signature 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49554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Isolated staging environment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569671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Malware scanning before deployment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58978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Chain of custody documentation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Risk, Human Error &amp; Lessons Learned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05840"/>
            <a:ext cx="5760720" cy="29260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Real-World Incidents (Manual Patching Failures)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Equifax 2017: Missed Apache Struts patch. 147M records. $1.4B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WannaCry 2017: MS17-010 available 2 months early. 200K+ systems hit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2821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SolarWinds 2020: Compromised update channel. Supply chain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938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Log4Shell 2021: Emergency patching of thousands of Java 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CrowdStrike 2024: Faulty auto-update. 8.5M systems BSOD globally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005840"/>
            <a:ext cx="5577840" cy="29260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051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7E14"/>
                </a:solidFill>
              </a:rPr>
              <a:t>Human Error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2588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Missed Systems - incomplete asset 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52704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Wrong Patch Applied - version mismatch in prod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72821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Skipped Testing - pressure to meet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92938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Incorrect Sequence - dependency order violated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3055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Forgotten Rollback - no pre-patch snapshot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33172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Credential Exposure - shared admin passwords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1148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</a:rPr>
              <a:t>Manual vs Automated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Consistency: Varies vs 100% repeatable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548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Speed: Days/weeks vs Hours/minutes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Audit: Incomplete vs Full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035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Coverage: Missed systems vs 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Rollback: Often forgotten vs Auto-snapshot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577840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CC04A"/>
                </a:solidFill>
              </a:rPr>
              <a:t>Key Lessons &amp; Mitigations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43484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Staged Rollouts: dev &gt; staging &gt; 10% canary &gt; full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63600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Integrity Verification: hash/sig for every 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83717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Automated Compliance: continuous scanning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03834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Isolated Download: secure pull architecture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523951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Never push to all systems simultaneously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Secure Pull Architecture - 5 Layer Security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960120"/>
            <a:ext cx="11612880" cy="1005840"/>
          </a:xfrm>
          <a:prstGeom prst="roundRect">
            <a:avLst/>
          </a:prstGeom>
          <a:solidFill>
            <a:srgbClr val="121E2E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1097280"/>
            <a:ext cx="731520" cy="731520"/>
          </a:xfrm>
          <a:prstGeom prst="ellipse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Internet Firewall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28016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Palo Alto NGFW (Internet Edge)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28016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Source IP Whitelisting - Only from Proxy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28016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IPS, Web Filtering &amp; Anti-malware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28016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Zoning &amp; Multi-tenancy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28016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Unidirectional 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075688"/>
            <a:ext cx="11612880" cy="1005840"/>
          </a:xfrm>
          <a:prstGeom prst="roundRect">
            <a:avLst/>
          </a:prstGeom>
          <a:solidFill>
            <a:srgbClr val="121E2E"/>
          </a:solidFill>
          <a:ln w="12700">
            <a:solidFill>
              <a:srgbClr val="FD7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" y="2212848"/>
            <a:ext cx="731520" cy="731520"/>
          </a:xfrm>
          <a:prstGeom prst="ellipse">
            <a:avLst/>
          </a:prstGeom>
          <a:solidFill>
            <a:srgbClr val="FD7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04288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Web 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All traffic via forward proxy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URL/Web Reputation filtering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Anti-malware &amp; HTTPS Inspection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Source IP - Only from DMZ Servers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Content categorization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191256"/>
            <a:ext cx="11612880" cy="1005840"/>
          </a:xfrm>
          <a:prstGeom prst="roundRect">
            <a:avLst/>
          </a:prstGeom>
          <a:solidFill>
            <a:srgbClr val="121E2E"/>
          </a:solidFill>
          <a:ln w="12700">
            <a:solidFill>
              <a:srgbClr val="00B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3328416"/>
            <a:ext cx="731520" cy="731520"/>
          </a:xfrm>
          <a:prstGeom prst="ellipse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419856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DMZ 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1129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Protects DMZ VMs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351129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Only specific DMZ servers reach proxy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51129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IPS &amp; Anti-malware 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51129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Zone-based policy enforcement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351129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DMZ isolation from DC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06824"/>
            <a:ext cx="11612880" cy="1005840"/>
          </a:xfrm>
          <a:prstGeom prst="roundRect">
            <a:avLst/>
          </a:prstGeom>
          <a:solidFill>
            <a:srgbClr val="121E2E"/>
          </a:solidFill>
          <a:ln w="12700">
            <a:solidFill>
              <a:srgbClr val="6CC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7200" y="4443984"/>
            <a:ext cx="731520" cy="731520"/>
          </a:xfrm>
          <a:prstGeom prst="ellipse">
            <a:avLst/>
          </a:prstGeom>
          <a:solidFill>
            <a:srgbClr val="6C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53542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DC Firewall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Internal east-west traffic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62686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Source &amp; Dest IP Whitelisting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62686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Specific server to specific DMZ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62686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IPS, Zoning &amp; Multi-Instance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462686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Unidirectional DC to DMZ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5422392"/>
            <a:ext cx="11612880" cy="1005840"/>
          </a:xfrm>
          <a:prstGeom prst="roundRect">
            <a:avLst/>
          </a:prstGeom>
          <a:solidFill>
            <a:srgbClr val="121E2E"/>
          </a:solidFill>
          <a:ln w="12700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5559552"/>
            <a:ext cx="731520" cy="731520"/>
          </a:xfrm>
          <a:prstGeom prst="ellipse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65099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ACI Fabric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574243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Cisco ACI micro-segmentation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574243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EPG-based access control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574243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Service Graphs &amp; PBR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74243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VRF isolation per business unit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574243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BBBBB"/>
                </a:solidFill>
              </a:rPr>
              <a:t>• Unidirectional EPG to DMZ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0" y="182880"/>
            <a:ext cx="731520" cy="32004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DMZ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47120" y="182880"/>
            <a:ext cx="731520" cy="320040"/>
          </a:xfrm>
          <a:prstGeom prst="roundRect">
            <a:avLst/>
          </a:prstGeom>
          <a:solidFill>
            <a:srgbClr val="6CC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DC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Update Types &amp; Technologies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05840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00B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CEB"/>
                </a:solidFill>
              </a:rPr>
              <a:t>WSUS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1732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Windows patches, CUs, SSUs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59" y="1005840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FD7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19" y="1097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D7E14"/>
                </a:solidFill>
              </a:rPr>
              <a:t>Ivanti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19" y="141732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3rd-party, Linux, drivers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005840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6CC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097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CC04A"/>
                </a:solidFill>
              </a:rPr>
              <a:t>Nutanix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141732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AOS, AHV, Prism, LCM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880360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971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3545"/>
                </a:solidFill>
              </a:rPr>
              <a:t>Trellix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2918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DATs, engine, EPO patches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2880360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FD7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2971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D7E14"/>
                </a:solidFill>
              </a:rPr>
              <a:t>Firewall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32918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PAN-OS, signatures, WildFire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80360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971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C107"/>
                </a:solidFill>
              </a:rPr>
              <a:t>IAM/PAM/NAC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29184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CyberArk, ISE, Entra 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754879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6CC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8463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CC04A"/>
                </a:solidFill>
              </a:rPr>
              <a:t>Collaboration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166359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CUCM, Expressway, Webex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59" y="4754879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00B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19" y="48463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CEB"/>
                </a:solidFill>
              </a:rPr>
              <a:t>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19" y="5166359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Exchange, SQL, AD, M365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754879"/>
            <a:ext cx="3749039" cy="164592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FD7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8463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D7E14"/>
                </a:solidFill>
              </a:rPr>
              <a:t>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166359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BBBB"/>
                </a:solidFill>
              </a:rPr>
              <a:t>SolarWinds, Splunk, Grafana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Automated vs Manual Update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05840"/>
            <a:ext cx="5760720" cy="365760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CC04A"/>
                </a:solidFill>
              </a:rPr>
              <a:t>Automated Updates (Scheduled/Continuous)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Trellix DAT signatures - every 4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Palo Alto WildFire - every 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2821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Threat Prevention IPS - daily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938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Windows Defender definitions - every 2 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WSUS security patches - monthly (Patch Tuesday)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CrowdStrike sensor - weekly (staged)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3288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URL filtering DB - daily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3405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Certificate auto-renewal - 30 days before expiry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3522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3639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BENEFITS: Zero intervention, consistent timing,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33756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complete coverage, immediate threat response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5577840" cy="365760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051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7E14"/>
                </a:solidFill>
              </a:rPr>
              <a:t>Manual Updates (CAB Approved)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32588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PAN-OS major upgrade - quarterly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52704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Nutanix AOS upgrade - bi-annual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72821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CUCM version upgrade - annual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92938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Exchange CU - quarterly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13055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Cisco ISE upgrade - bi-annual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33172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CyberArk PAM - bi-annual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53288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ACI fabric upgrade - bi-annual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3405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SQL Server CU - quarterly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293522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13639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REQUIRES: CAB approval, maintenance window,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33756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rollback plan, pre/post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463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CC04A"/>
                </a:solidFill>
              </a:rPr>
              <a:t>Low Risk (Auto-Approved)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1206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AV definitions, IPS sigs, URL DB,
threat feeds, agent minor updates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8463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7E14"/>
                </a:solidFill>
              </a:rPr>
              <a:t>Medium Risk (Semi-Auto)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51206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OS security patches, app patches,
agent major upgrades, drivers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463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C3545"/>
                </a:solidFill>
              </a:rPr>
              <a:t>High Risk (Manual Only)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1206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Platform upgrades, DB engines,
hypervisors, firewall OS, firmware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0" y="182880"/>
            <a:ext cx="6675120" cy="640080"/>
          </a:xfrm>
          <a:prstGeom prst="round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Secure Vendor Access - BeyondTrust PRA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05840"/>
            <a:ext cx="5760720" cy="29260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</a:rPr>
              <a:t>Why BeyondTrust PRA?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Zero Trust - No VPN or direct network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Session Recording - Full video of all sessions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2821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Credential Injection - Vendors never see passwords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938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JIT Access - Time-limited with auto-expiry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Approval Workflow - Multi-level before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Granular Permissions - Only specific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3288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Real-time Monitoring - Live session viewing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3405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Compliance Audit - Complete trail for every 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05840"/>
            <a:ext cx="5577840" cy="29260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51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CC04A"/>
                </a:solidFill>
              </a:rPr>
              <a:t>Vendor Access 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32588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1. Vendor requests access via PRA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52704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2. IT Security/Manager approves with time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72821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3. Vendor connects via PRA jump point (no VPN)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929384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4. PRA injects credentials (vendor never sees them)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13055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5. Session recorded, keystrokes logged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3172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6. Auto-terminate at approved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32888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7. Credential rotation post-session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734056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8. Audit report generated &amp; sent to SIEM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3840480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1605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</a:rPr>
              <a:t>Vendor Use Cases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34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Nutanix Support - AOS/AHV upgrades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6360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Cisco TAC - UCM/ACI/ISE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8371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Palo Alto - FW config &amp; upgrades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383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CyberArk - PAM vault maintenance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395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Microsoft Premier - Exchange/SQL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Trellix - EPO troubleshooting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14800"/>
            <a:ext cx="3657600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3545"/>
                </a:solidFill>
              </a:rPr>
              <a:t>Security Controls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43484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MFA required for all vendors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636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Geo-restriction (approved countries)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837176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Protocol control (RDP/SSH/HTTPS)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503834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Clipboard disabled (no exfiltration)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523951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File transfer fully audited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54406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Session watermark with vendor ID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4114800"/>
            <a:ext cx="3749039" cy="2468880"/>
          </a:xfrm>
          <a:prstGeom prst="roundRect">
            <a:avLst/>
          </a:prstGeom>
          <a:solidFill>
            <a:srgbClr val="152233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416052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</a:rPr>
              <a:t>Compliance &amp; Integration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43484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Recordings stored 12+ months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63600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ISO 27001/NCA ECC/PCI evidence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483717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Anomaly detection alerts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503834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SIEM integration (Splunk/QRadar)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5239512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Real-time active session dashboard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44068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</a:rPr>
              <a:t>• Jump points in DMZ zone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