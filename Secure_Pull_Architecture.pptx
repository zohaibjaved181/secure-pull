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286000"/>
            <a:ext cx="7589520" cy="1097280"/>
          </a:xfrm>
          <a:prstGeom prst="round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Secure Pull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E8E8"/>
                </a:solidFill>
              </a:rPr>
              <a:t>Multi-Layer Security Architecture with Unidirectional Traffic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SECURE PULL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029200"/>
            <a:ext cx="1097280" cy="365760"/>
          </a:xfrm>
          <a:prstGeom prst="round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DMZ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577840"/>
            <a:ext cx="1097280" cy="365760"/>
          </a:xfrm>
          <a:prstGeom prst="roundRect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37160"/>
            <a:ext cx="5760720" cy="502920"/>
          </a:xfrm>
          <a:prstGeom prst="round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Secure Pull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0" y="137160"/>
            <a:ext cx="914400" cy="365760"/>
          </a:xfrm>
          <a:prstGeom prst="round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DMZ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6309360"/>
            <a:ext cx="914400" cy="365760"/>
          </a:xfrm>
          <a:prstGeom prst="roundRect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7160"/>
            <a:ext cx="1371600" cy="3657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SECURE PULL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777240"/>
            <a:ext cx="11612880" cy="1051560"/>
          </a:xfrm>
          <a:prstGeom prst="roundRect">
            <a:avLst/>
          </a:prstGeom>
          <a:solidFill>
            <a:srgbClr val="2D151A"/>
          </a:solidFill>
          <a:ln w="12700">
            <a:solidFill>
              <a:srgbClr val="6E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914400"/>
            <a:ext cx="777240" cy="7772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
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Internet
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05840"/>
            <a:ext cx="54864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097280"/>
            <a:ext cx="731520" cy="320040"/>
          </a:xfrm>
          <a:prstGeom prst="rect">
            <a:avLst/>
          </a:prstGeom>
          <a:solidFill>
            <a:srgbClr val="007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005840"/>
            <a:ext cx="457200" cy="594360"/>
          </a:xfrm>
          <a:prstGeom prst="rect">
            <a:avLst/>
          </a:prstGeom>
          <a:solidFill>
            <a:srgbClr val="00BCEB"/>
          </a:solidFill>
          <a:ln w="12700">
            <a:solidFill>
              <a:srgbClr val="007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566160" y="1280160"/>
            <a:ext cx="914400" cy="0"/>
          </a:xfrm>
          <a:prstGeom prst="line">
            <a:avLst/>
          </a:prstGeom>
          <a:ln w="25400">
            <a:solidFill>
              <a:srgbClr val="DC3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" y="1280160"/>
            <a:ext cx="457200" cy="0"/>
          </a:xfrm>
          <a:prstGeom prst="line">
            <a:avLst/>
          </a:prstGeom>
          <a:ln w="25400">
            <a:solidFill>
              <a:srgbClr val="DC3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40480" y="1216152"/>
            <a:ext cx="109728" cy="109728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1216152"/>
            <a:ext cx="109728" cy="109728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216152"/>
            <a:ext cx="109728" cy="109728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822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Source IP Whitelisting - Only from Web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0241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Destination Server IP &amp; URL Whitelisting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22529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IPS, Web Filtering &amp; Anti-malware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4264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Zoning &amp; Multi-tenancy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276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Unidirectional 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1874519"/>
            <a:ext cx="0" cy="228601"/>
          </a:xfrm>
          <a:prstGeom prst="line">
            <a:avLst/>
          </a:prstGeom>
          <a:ln w="25400">
            <a:solidFill>
              <a:srgbClr val="FD7E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7680" y="187451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Proxy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103120"/>
            <a:ext cx="11612880" cy="1051560"/>
          </a:xfrm>
          <a:prstGeom prst="roundRect">
            <a:avLst/>
          </a:prstGeom>
          <a:solidFill>
            <a:srgbClr val="2D200A"/>
          </a:solidFill>
          <a:ln w="12700">
            <a:solidFill>
              <a:srgbClr val="7F3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2240280"/>
            <a:ext cx="777240" cy="777240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
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Web
Proxy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331720"/>
            <a:ext cx="54864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423160"/>
            <a:ext cx="731520" cy="320040"/>
          </a:xfrm>
          <a:prstGeom prst="rect">
            <a:avLst/>
          </a:prstGeom>
          <a:solidFill>
            <a:srgbClr val="007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331720"/>
            <a:ext cx="457200" cy="594360"/>
          </a:xfrm>
          <a:prstGeom prst="rect">
            <a:avLst/>
          </a:prstGeom>
          <a:solidFill>
            <a:srgbClr val="00BCEB"/>
          </a:solidFill>
          <a:ln w="12700">
            <a:solidFill>
              <a:srgbClr val="007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566160" y="2606040"/>
            <a:ext cx="914400" cy="0"/>
          </a:xfrm>
          <a:prstGeom prst="line">
            <a:avLst/>
          </a:prstGeom>
          <a:ln w="25400">
            <a:solidFill>
              <a:srgbClr val="FD7E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0" y="2606040"/>
            <a:ext cx="457200" cy="0"/>
          </a:xfrm>
          <a:prstGeom prst="line">
            <a:avLst/>
          </a:prstGeom>
          <a:ln w="25400">
            <a:solidFill>
              <a:srgbClr val="FD7E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40480" y="2542032"/>
            <a:ext cx="109728" cy="109728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14800" y="2542032"/>
            <a:ext cx="109728" cy="109728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97680" y="2542032"/>
            <a:ext cx="109728" cy="109728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148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Source IP Whitelisting - Only from Specific DMZ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3500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Destination Server IP &amp; URL Whitelisting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5511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Web Reputation &amp; Web Usage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7523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Anti-malware Analysis &amp; HTTPS Inspection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" y="22860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88BBDD"/>
                </a:solidFill>
              </a:rPr>
              <a:t>Only Proxy can communicate unidirectionally with Internet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14800" y="3200400"/>
            <a:ext cx="0" cy="228600"/>
          </a:xfrm>
          <a:prstGeom prst="line">
            <a:avLst/>
          </a:prstGeom>
          <a:ln w="25400">
            <a:solidFill>
              <a:srgbClr val="00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9768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Proxy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429000"/>
            <a:ext cx="11612880" cy="1051560"/>
          </a:xfrm>
          <a:prstGeom prst="roundRect">
            <a:avLst/>
          </a:prstGeom>
          <a:solidFill>
            <a:srgbClr val="0A202D"/>
          </a:solidFill>
          <a:ln w="12700">
            <a:solidFill>
              <a:srgbClr val="005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7200" y="3566160"/>
            <a:ext cx="777240" cy="777240"/>
          </a:xfrm>
          <a:prstGeom prst="ellipse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
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611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DMZ
Firewall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3657600"/>
            <a:ext cx="548640" cy="59436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749040"/>
            <a:ext cx="731520" cy="320040"/>
          </a:xfrm>
          <a:prstGeom prst="rect">
            <a:avLst/>
          </a:prstGeom>
          <a:solidFill>
            <a:srgbClr val="007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3657600"/>
            <a:ext cx="457200" cy="594360"/>
          </a:xfrm>
          <a:prstGeom prst="rect">
            <a:avLst/>
          </a:prstGeom>
          <a:solidFill>
            <a:srgbClr val="00BCEB"/>
          </a:solidFill>
          <a:ln w="12700">
            <a:solidFill>
              <a:srgbClr val="007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566160" y="3931920"/>
            <a:ext cx="914400" cy="0"/>
          </a:xfrm>
          <a:prstGeom prst="line">
            <a:avLst/>
          </a:prstGeom>
          <a:ln w="25400">
            <a:solidFill>
              <a:srgbClr val="00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94960" y="3931920"/>
            <a:ext cx="457200" cy="0"/>
          </a:xfrm>
          <a:prstGeom prst="line">
            <a:avLst/>
          </a:prstGeom>
          <a:ln w="25400">
            <a:solidFill>
              <a:srgbClr val="00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840480" y="3867912"/>
            <a:ext cx="109728" cy="109728"/>
          </a:xfrm>
          <a:prstGeom prst="ellipse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14800" y="3867912"/>
            <a:ext cx="109728" cy="109728"/>
          </a:xfrm>
          <a:prstGeom prst="ellipse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97680" y="3867912"/>
            <a:ext cx="109728" cy="109728"/>
          </a:xfrm>
          <a:prstGeom prst="ellipse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3474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Source IP Whitelisting - Only from Specific DMZ Servers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6758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Destination Server IP &amp; URL Whitelisting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387705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IPS, Web Filtering &amp; Anti-malware Security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40782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Zoning &amp; Unidirectional 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" y="3611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88BBDD"/>
                </a:solidFill>
              </a:rPr>
              <a:t>Only specific DMZ servers can communicate unidirectionally with Proxy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0" y="4526280"/>
            <a:ext cx="0" cy="228600"/>
          </a:xfrm>
          <a:prstGeom prst="line">
            <a:avLst/>
          </a:prstGeom>
          <a:ln w="25400">
            <a:solidFill>
              <a:srgbClr val="6CC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29768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754880"/>
            <a:ext cx="11612880" cy="1051560"/>
          </a:xfrm>
          <a:prstGeom prst="roundRect">
            <a:avLst/>
          </a:prstGeom>
          <a:solidFill>
            <a:srgbClr val="142412"/>
          </a:solidFill>
          <a:ln w="12700">
            <a:solidFill>
              <a:srgbClr val="366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7200" y="4892040"/>
            <a:ext cx="777240" cy="777240"/>
          </a:xfrm>
          <a:prstGeom prst="ellipse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
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4937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DC
Firewall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983480"/>
            <a:ext cx="548640" cy="594360"/>
          </a:xfrm>
          <a:prstGeom prst="rect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0" y="5074920"/>
            <a:ext cx="731520" cy="320040"/>
          </a:xfrm>
          <a:prstGeom prst="rect">
            <a:avLst/>
          </a:prstGeom>
          <a:solidFill>
            <a:srgbClr val="007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43600" y="4983480"/>
            <a:ext cx="457200" cy="594360"/>
          </a:xfrm>
          <a:prstGeom prst="rect">
            <a:avLst/>
          </a:prstGeom>
          <a:solidFill>
            <a:srgbClr val="00BCEB"/>
          </a:solidFill>
          <a:ln w="12700">
            <a:solidFill>
              <a:srgbClr val="007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566160" y="5257800"/>
            <a:ext cx="914400" cy="0"/>
          </a:xfrm>
          <a:prstGeom prst="line">
            <a:avLst/>
          </a:prstGeom>
          <a:ln w="25400">
            <a:solidFill>
              <a:srgbClr val="6CC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394960" y="5257800"/>
            <a:ext cx="457200" cy="0"/>
          </a:xfrm>
          <a:prstGeom prst="line">
            <a:avLst/>
          </a:prstGeom>
          <a:ln w="25400">
            <a:solidFill>
              <a:srgbClr val="6CC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840480" y="5193792"/>
            <a:ext cx="109728" cy="109728"/>
          </a:xfrm>
          <a:prstGeom prst="ellipse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14800" y="5193792"/>
            <a:ext cx="109728" cy="109728"/>
          </a:xfrm>
          <a:prstGeom prst="ellipse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97680" y="5193792"/>
            <a:ext cx="109728" cy="109728"/>
          </a:xfrm>
          <a:prstGeom prst="ellipse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Source &amp; Destination Server IP Whitelisting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50017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Only from Specific Server to Specific DMZ Server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52029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IPS, Zoning &amp; Multi-Instance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40410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Unidirectional Flow from DC to DMZ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114800" y="5852160"/>
            <a:ext cx="0" cy="137160"/>
          </a:xfrm>
          <a:prstGeom prst="line">
            <a:avLst/>
          </a:prstGeom>
          <a:ln w="25400">
            <a:solidFill>
              <a:srgbClr val="198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274320" y="5989320"/>
            <a:ext cx="11612880" cy="1051560"/>
          </a:xfrm>
          <a:prstGeom prst="roundRect">
            <a:avLst/>
          </a:prstGeom>
          <a:solidFill>
            <a:srgbClr val="0C2215"/>
          </a:solidFill>
          <a:ln w="12700">
            <a:solidFill>
              <a:srgbClr val="0C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7200" y="6126480"/>
            <a:ext cx="777240" cy="77724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
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0" y="6172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6080" y="6217920"/>
            <a:ext cx="548640" cy="594360"/>
          </a:xfrm>
          <a:prstGeom prst="rect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0" y="6309360"/>
            <a:ext cx="731520" cy="320040"/>
          </a:xfrm>
          <a:prstGeom prst="rect">
            <a:avLst/>
          </a:prstGeom>
          <a:solidFill>
            <a:srgbClr val="007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43600" y="6217920"/>
            <a:ext cx="457200" cy="594360"/>
          </a:xfrm>
          <a:prstGeom prst="rect">
            <a:avLst/>
          </a:prstGeom>
          <a:solidFill>
            <a:srgbClr val="00BCEB"/>
          </a:solidFill>
          <a:ln w="12700">
            <a:solidFill>
              <a:srgbClr val="007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3566160" y="6492240"/>
            <a:ext cx="914400" cy="0"/>
          </a:xfrm>
          <a:prstGeom prst="line">
            <a:avLst/>
          </a:prstGeom>
          <a:ln w="25400">
            <a:solidFill>
              <a:srgbClr val="198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394960" y="6492240"/>
            <a:ext cx="457200" cy="0"/>
          </a:xfrm>
          <a:prstGeom prst="line">
            <a:avLst/>
          </a:prstGeom>
          <a:ln w="25400">
            <a:solidFill>
              <a:srgbClr val="198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840480" y="6428232"/>
            <a:ext cx="109728" cy="1097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14800" y="6428232"/>
            <a:ext cx="109728" cy="1097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297680" y="6428232"/>
            <a:ext cx="109728" cy="1097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6035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Source Whitelisting - Only from specific EPG to DMZ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6236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Service Graphs, PBR, VRFs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64373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EPGs, ESGs &amp; Multi-tenancy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0" y="66385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E8"/>
                </a:solidFill>
              </a:rPr>
              <a:t>• Unidirectional Flow from EPG to DMZ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" y="61264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88BBDD"/>
                </a:solidFill>
              </a:rPr>
              <a:t>Only specific DC servers can communicate unidirectionally with DMZ Servers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60720" cy="548640"/>
          </a:xfrm>
          <a:prstGeom prst="round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Traffic Flow - Secure Pull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3545"/>
                </a:solidFill>
              </a:rPr>
              <a:t>1. Internet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</a:rPr>
              <a:t>Palo Alto Firewall handles all incoming/outgoing internet traffic with strict IP whitelisting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515600" y="1280160"/>
            <a:ext cx="548640" cy="365760"/>
          </a:xfrm>
          <a:prstGeom prst="rightArrow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37160" cy="8229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7E14"/>
                </a:solidFill>
              </a:rPr>
              <a:t>2. Proxy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</a:rPr>
              <a:t>Web Proxy server processes all requests with URL filtering, malware scanning &amp; HTTPS inspection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515600" y="2377440"/>
            <a:ext cx="548640" cy="365760"/>
          </a:xfrm>
          <a:prstGeom prst="rightArrow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291840"/>
            <a:ext cx="137160" cy="82296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</a:rPr>
              <a:t>3. DMZ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</a:rPr>
              <a:t>DMZ Firewall enforces zone-based policies, allowing only specific DMZ servers to reach proxy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515600" y="3474720"/>
            <a:ext cx="548640" cy="365760"/>
          </a:xfrm>
          <a:prstGeom prst="rightArrow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89120"/>
            <a:ext cx="137160" cy="822960"/>
          </a:xfrm>
          <a:prstGeom prst="rect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C04A"/>
                </a:solidFill>
              </a:rPr>
              <a:t>4. DC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</a:rPr>
              <a:t>Datacenter Firewall manages internal east-west traffic between DC and DMZ segments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15600" y="4572000"/>
            <a:ext cx="548640" cy="365760"/>
          </a:xfrm>
          <a:prstGeom prst="rightArrow">
            <a:avLst/>
          </a:prstGeom>
          <a:solidFill>
            <a:srgbClr val="6CC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137160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8754"/>
                </a:solidFill>
              </a:rPr>
              <a:t>5. ACI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E8"/>
                </a:solidFill>
              </a:rPr>
              <a:t>Cisco ACI provides micro-segmentation via EPGs, service graphs, and policy-based routing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515600" y="5669280"/>
            <a:ext cx="548640" cy="365760"/>
          </a:xfrm>
          <a:prstGeom prst="rightArrow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6217920"/>
            <a:ext cx="10332720" cy="457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KEY: All traffic flows are UNIDIRECTIONAL | Each layer enforces IP Whitelisting | Defense-in-Depth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